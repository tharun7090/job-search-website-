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6858000" cy="5143500"/>
  <p:notesSz cx="6858000" cy="5143500"/>
  <p:embeddedFontLst>
    <p:embeddedFont>
      <p:font typeface="MWHGHF+PublicSans-Bold"/>
      <p:regular r:id="rId17"/>
    </p:embeddedFont>
    <p:embeddedFont>
      <p:font typeface="DNGNDR+ArialMT"/>
      <p:regular r:id="rId18"/>
    </p:embeddedFont>
    <p:embeddedFont>
      <p:font typeface="OJOKNC+EBGaramond-Bold"/>
      <p:regular r:id="rId19"/>
    </p:embeddedFont>
    <p:embeddedFont>
      <p:font typeface="EPPVFJ+EBGaramond-Medium"/>
      <p:regular r:id="rId20"/>
    </p:embeddedFont>
    <p:embeddedFont>
      <p:font typeface="KRNIWQ+Arial-BoldMT"/>
      <p:regular r:id="rId21"/>
    </p:embeddedFont>
    <p:embeddedFont>
      <p:font typeface="IGMMLK+EBGaramond-Regular"/>
      <p:regular r:id="rId22"/>
    </p:embeddedFont>
    <p:embeddedFont>
      <p:font typeface="FLWGFE+PublicSans-BoldItalic"/>
      <p:regular r:id="rId23"/>
    </p:embeddedFont>
    <p:embeddedFont>
      <p:font typeface="NKDRSK+EBGaramond-SemiBold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font" Target="fonts/font1.fntdata" /><Relationship Id="rId18" Type="http://schemas.openxmlformats.org/officeDocument/2006/relationships/font" Target="fonts/font2.fntdata" /><Relationship Id="rId19" Type="http://schemas.openxmlformats.org/officeDocument/2006/relationships/font" Target="fonts/font3.fntdata" /><Relationship Id="rId2" Type="http://schemas.openxmlformats.org/officeDocument/2006/relationships/tableStyles" Target="tableStyles.xml" /><Relationship Id="rId20" Type="http://schemas.openxmlformats.org/officeDocument/2006/relationships/font" Target="fonts/font4.fntdata" /><Relationship Id="rId21" Type="http://schemas.openxmlformats.org/officeDocument/2006/relationships/font" Target="fonts/font5.fntdata" /><Relationship Id="rId22" Type="http://schemas.openxmlformats.org/officeDocument/2006/relationships/font" Target="fonts/font6.fntdata" /><Relationship Id="rId23" Type="http://schemas.openxmlformats.org/officeDocument/2006/relationships/font" Target="fonts/font7.fntdata" /><Relationship Id="rId24" Type="http://schemas.openxmlformats.org/officeDocument/2006/relationships/font" Target="fonts/font8.fntdata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8185" y="2610645"/>
            <a:ext cx="2952559" cy="306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1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223669"/>
                </a:solidFill>
                <a:latin typeface="MWHGHF+PublicSans-Bold"/>
                <a:cs typeface="MWHGHF+PublicSans-Bold"/>
              </a:rPr>
              <a:t>“</a:t>
            </a:r>
            <a:r>
              <a:rPr dirty="0" sz="1800" b="1">
                <a:solidFill>
                  <a:srgbClr val="223669"/>
                </a:solidFill>
                <a:latin typeface="MWHGHF+PublicSans-Bold"/>
                <a:cs typeface="MWHGHF+PublicSans-Bold"/>
              </a:rPr>
              <a:t> </a:t>
            </a:r>
            <a:r>
              <a:rPr dirty="0" sz="1800" b="1">
                <a:solidFill>
                  <a:srgbClr val="223669"/>
                </a:solidFill>
                <a:latin typeface="MWHGHF+PublicSans-Bold"/>
                <a:cs typeface="MWHGHF+PublicSans-Bold"/>
              </a:rPr>
              <a:t>JOB</a:t>
            </a:r>
            <a:r>
              <a:rPr dirty="0" sz="1800" b="1">
                <a:solidFill>
                  <a:srgbClr val="223669"/>
                </a:solidFill>
                <a:latin typeface="MWHGHF+PublicSans-Bold"/>
                <a:cs typeface="MWHGHF+PublicSans-Bold"/>
              </a:rPr>
              <a:t> </a:t>
            </a:r>
            <a:r>
              <a:rPr dirty="0" sz="1800" b="1">
                <a:solidFill>
                  <a:srgbClr val="223669"/>
                </a:solidFill>
                <a:latin typeface="MWHGHF+PublicSans-Bold"/>
                <a:cs typeface="MWHGHF+PublicSans-Bold"/>
              </a:rPr>
              <a:t>SEARCH</a:t>
            </a:r>
            <a:r>
              <a:rPr dirty="0" sz="1800" b="1">
                <a:solidFill>
                  <a:srgbClr val="223669"/>
                </a:solidFill>
                <a:latin typeface="MWHGHF+PublicSans-Bold"/>
                <a:cs typeface="MWHGHF+PublicSans-Bold"/>
              </a:rPr>
              <a:t> </a:t>
            </a:r>
            <a:r>
              <a:rPr dirty="0" sz="1800" b="1">
                <a:solidFill>
                  <a:srgbClr val="223669"/>
                </a:solidFill>
                <a:latin typeface="MWHGHF+PublicSans-Bold"/>
                <a:cs typeface="MWHGHF+PublicSans-Bold"/>
              </a:rPr>
              <a:t>WEBSITE”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8184" y="3251297"/>
            <a:ext cx="1223162" cy="3067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15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400" spc="11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294f"/>
                </a:solidFill>
                <a:latin typeface="MWHGHF+PublicSans-Bold"/>
                <a:cs typeface="MWHGHF+PublicSans-Bold"/>
              </a:rPr>
              <a:t>Task</a:t>
            </a:r>
            <a:r>
              <a:rPr dirty="0" sz="1800" b="1">
                <a:solidFill>
                  <a:srgbClr val="1a294f"/>
                </a:solidFill>
                <a:latin typeface="MWHGHF+PublicSans-Bold"/>
                <a:cs typeface="MWHGHF+PublicSans-Bold"/>
              </a:rPr>
              <a:t> </a:t>
            </a:r>
            <a:r>
              <a:rPr dirty="0" sz="1800" b="1">
                <a:solidFill>
                  <a:srgbClr val="1a294f"/>
                </a:solidFill>
                <a:latin typeface="MWHGHF+PublicSans-Bold"/>
                <a:cs typeface="MWHGHF+PublicSans-Bold"/>
              </a:rPr>
              <a:t>-</a:t>
            </a:r>
            <a:r>
              <a:rPr dirty="0" sz="1800" b="1">
                <a:solidFill>
                  <a:srgbClr val="1a294f"/>
                </a:solidFill>
                <a:latin typeface="MWHGHF+PublicSans-Bold"/>
                <a:cs typeface="MWHGHF+PublicSans-Bold"/>
              </a:rPr>
              <a:t> </a:t>
            </a:r>
            <a:r>
              <a:rPr dirty="0" sz="1800" b="1">
                <a:solidFill>
                  <a:srgbClr val="1a294f"/>
                </a:solidFill>
                <a:latin typeface="MWHGHF+PublicSans-Bold"/>
                <a:cs typeface="MWHGHF+PublicSans-Bold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63140" y="3480657"/>
            <a:ext cx="308018" cy="1870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By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47829" y="3640677"/>
            <a:ext cx="1137874" cy="8271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SAMSON.G</a:t>
            </a:r>
          </a:p>
          <a:p>
            <a:pPr marL="0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LOKESHWAR.R</a:t>
            </a:r>
          </a:p>
          <a:p>
            <a:pPr marL="0" marR="0">
              <a:lnSpc>
                <a:spcPts val="1173"/>
              </a:lnSpc>
              <a:spcBef>
                <a:spcPts val="86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THARUN.S</a:t>
            </a:r>
          </a:p>
          <a:p>
            <a:pPr marL="36938" marR="0">
              <a:lnSpc>
                <a:spcPts val="1173"/>
              </a:lnSpc>
              <a:spcBef>
                <a:spcPts val="86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BHARATHI.M</a:t>
            </a:r>
          </a:p>
          <a:p>
            <a:pPr marL="36938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DINAKARAN.M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6032" y="1261764"/>
            <a:ext cx="2006625" cy="26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12" b="1">
                <a:solidFill>
                  <a:srgbClr val="c88c32"/>
                </a:solidFill>
                <a:latin typeface="OJOKNC+EBGaramond-Bold"/>
                <a:cs typeface="OJOKNC+EBGaramond-Bold"/>
              </a:rPr>
              <a:t>JOBꢀSEARCHꢀWEBSITE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962" y="1685114"/>
            <a:ext cx="3144145" cy="524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ffffff"/>
                </a:solidFill>
                <a:latin typeface="EPPVFJ+EBGaramond-Medium"/>
                <a:cs typeface="EPPVFJ+EBGaramond-Medium"/>
              </a:rPr>
              <a:t>ꢀ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A</a:t>
            </a:r>
            <a:r>
              <a:rPr dirty="0" sz="1050" spc="27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job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board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enables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employers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to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publish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job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offer</a:t>
            </a:r>
          </a:p>
          <a:p>
            <a:pPr marL="0" marR="0">
              <a:lnSpc>
                <a:spcPts val="1173"/>
              </a:lnSpc>
              <a:spcBef>
                <a:spcPts val="46"/>
              </a:spcBef>
              <a:spcAft>
                <a:spcPts val="0"/>
              </a:spcAft>
            </a:pP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a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position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to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be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filled.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jobseekers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navigate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through</a:t>
            </a:r>
          </a:p>
          <a:p>
            <a:pPr marL="0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website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in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order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to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find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a</a:t>
            </a:r>
            <a:r>
              <a:rPr dirty="0" sz="1050" spc="28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4"/>
                </a:solidFill>
                <a:latin typeface="DNGNDR+ArialMT"/>
                <a:cs typeface="DNGNDR+ArialMT"/>
              </a:rPr>
              <a:t>job.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7102" y="2323835"/>
            <a:ext cx="1216012" cy="17180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4957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c88c32"/>
                </a:solidFill>
                <a:latin typeface="KRNIWQ+Arial-BoldMT"/>
                <a:cs typeface="KRNIWQ+Arial-BoldMT"/>
              </a:rPr>
              <a:t>LMS</a:t>
            </a:r>
            <a:r>
              <a:rPr dirty="0" sz="1100" b="1">
                <a:solidFill>
                  <a:srgbClr val="c88c32"/>
                </a:solidFill>
                <a:latin typeface="KRNIWQ+Arial-BoldMT"/>
                <a:cs typeface="KRNIWQ+Arial-BoldMT"/>
              </a:rPr>
              <a:t> </a:t>
            </a:r>
            <a:r>
              <a:rPr dirty="0" sz="1100" b="1">
                <a:solidFill>
                  <a:srgbClr val="c88c32"/>
                </a:solidFill>
                <a:latin typeface="KRNIWQ+Arial-BoldMT"/>
                <a:cs typeface="KRNIWQ+Arial-BoldMT"/>
              </a:rPr>
              <a:t>Username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2109a58148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2109a58136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2109a58162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2109a58116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2109a58120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8175" y="2323835"/>
            <a:ext cx="532891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c88c32"/>
                </a:solidFill>
                <a:latin typeface="KRNIWQ+Arial-BoldMT"/>
                <a:cs typeface="KRNIWQ+Arial-BoldMT"/>
              </a:rPr>
              <a:t>Name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80682" y="2323835"/>
            <a:ext cx="571598" cy="4989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1134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c88c32"/>
                </a:solidFill>
                <a:latin typeface="KRNIWQ+Arial-BoldMT"/>
                <a:cs typeface="KRNIWQ+Arial-BoldMT"/>
              </a:rPr>
              <a:t>Batch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A58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33805" y="2628613"/>
            <a:ext cx="1045102" cy="8037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G.SAMSON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LOKESHWAR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S.THARUN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80682" y="2933391"/>
            <a:ext cx="400967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A58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80682" y="3238169"/>
            <a:ext cx="400967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A58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33805" y="3542947"/>
            <a:ext cx="1122660" cy="4989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M.BHARATHI</a:t>
            </a:r>
          </a:p>
          <a:p>
            <a:pPr marL="0" marR="0">
              <a:lnSpc>
                <a:spcPts val="1228"/>
              </a:lnSpc>
              <a:spcBef>
                <a:spcPts val="117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M.DINAKARAN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80682" y="3542947"/>
            <a:ext cx="400967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A58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80682" y="3847725"/>
            <a:ext cx="400967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A58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8533" y="888974"/>
            <a:ext cx="1413795" cy="2283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50" spc="15" b="1">
                <a:solidFill>
                  <a:srgbClr val="ffffff"/>
                </a:solidFill>
                <a:latin typeface="MWHGHF+PublicSans-Bold"/>
                <a:cs typeface="MWHGHF+PublicSans-Bold"/>
              </a:rPr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732" y="1310068"/>
            <a:ext cx="215428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ffffff"/>
                </a:solidFill>
                <a:latin typeface="DNGNDR+ArialMT"/>
                <a:cs typeface="DNGNDR+ArialMT"/>
              </a:rPr>
              <a:t>▪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2857" y="1350307"/>
            <a:ext cx="2576959" cy="1870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An</a:t>
            </a:r>
            <a:r>
              <a:rPr dirty="0" sz="1050" spc="3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202122"/>
                </a:solidFill>
                <a:latin typeface="KRNIWQ+Arial-BoldMT"/>
                <a:cs typeface="KRNIWQ+Arial-BoldMT"/>
              </a:rPr>
              <a:t>Job</a:t>
            </a:r>
            <a:r>
              <a:rPr dirty="0" sz="1050" b="1">
                <a:solidFill>
                  <a:srgbClr val="202122"/>
                </a:solidFill>
                <a:latin typeface="KRNIWQ+Arial-BoldMT"/>
                <a:cs typeface="KRNIWQ+Arial-BoldMT"/>
              </a:rPr>
              <a:t> </a:t>
            </a:r>
            <a:r>
              <a:rPr dirty="0" sz="1050" b="1">
                <a:solidFill>
                  <a:srgbClr val="202122"/>
                </a:solidFill>
                <a:latin typeface="KRNIWQ+Arial-BoldMT"/>
                <a:cs typeface="KRNIWQ+Arial-BoldMT"/>
              </a:rPr>
              <a:t>search</a:t>
            </a:r>
            <a:r>
              <a:rPr dirty="0" sz="1050" b="1">
                <a:solidFill>
                  <a:srgbClr val="202122"/>
                </a:solidFill>
                <a:latin typeface="KRNIWQ+Arial-BoldMT"/>
                <a:cs typeface="KRNIWQ+Arial-BoldMT"/>
              </a:rPr>
              <a:t> </a:t>
            </a:r>
            <a:r>
              <a:rPr dirty="0" sz="1050" b="1">
                <a:solidFill>
                  <a:srgbClr val="202122"/>
                </a:solidFill>
                <a:latin typeface="KRNIWQ+Arial-BoldMT"/>
                <a:cs typeface="KRNIWQ+Arial-BoldMT"/>
              </a:rPr>
              <a:t>website</a:t>
            </a:r>
            <a:r>
              <a:rPr dirty="0" sz="1050" b="1">
                <a:solidFill>
                  <a:srgbClr val="202122"/>
                </a:solidFill>
                <a:latin typeface="KRNIWQ+Arial-BoldMT"/>
                <a:cs typeface="KRNIWQ+Arial-BoldMT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is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</a:t>
            </a:r>
            <a:r>
              <a:rPr dirty="0" sz="1050" spc="25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366cc"/>
                </a:solidFill>
                <a:latin typeface="DNGNDR+ArialMT"/>
                <a:cs typeface="DNGNDR+ArialMT"/>
              </a:rPr>
              <a:t>website</a:t>
            </a:r>
            <a:r>
              <a:rPr dirty="0" sz="1050" spc="44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that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2857" y="1510327"/>
            <a:ext cx="2863692" cy="1307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deals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specifically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with</a:t>
            </a:r>
            <a:r>
              <a:rPr dirty="0" sz="1050" spc="6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366cc"/>
                </a:solidFill>
                <a:latin typeface="DNGNDR+ArialMT"/>
                <a:cs typeface="DNGNDR+ArialMT"/>
              </a:rPr>
              <a:t>employment</a:t>
            </a:r>
            <a:r>
              <a:rPr dirty="0" sz="1050" spc="47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or</a:t>
            </a:r>
            <a:r>
              <a:rPr dirty="0" sz="1050" spc="25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366cc"/>
                </a:solidFill>
                <a:latin typeface="DNGNDR+ArialMT"/>
                <a:cs typeface="DNGNDR+ArialMT"/>
              </a:rPr>
              <a:t>career</a:t>
            </a:r>
          </a:p>
          <a:p>
            <a:pPr marL="0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Many</a:t>
            </a:r>
            <a:r>
              <a:rPr dirty="0" sz="1050" spc="33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job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search</a:t>
            </a:r>
            <a:r>
              <a:rPr dirty="0" sz="1050" spc="44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websites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are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designed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to</a:t>
            </a:r>
          </a:p>
          <a:p>
            <a:pPr marL="0" marR="0">
              <a:lnSpc>
                <a:spcPts val="1173"/>
              </a:lnSpc>
              <a:spcBef>
                <a:spcPts val="8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allow</a:t>
            </a:r>
            <a:r>
              <a:rPr dirty="0" sz="1050" spc="46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366cc"/>
                </a:solidFill>
                <a:latin typeface="DNGNDR+ArialMT"/>
                <a:cs typeface="DNGNDR+ArialMT"/>
              </a:rPr>
              <a:t>employers</a:t>
            </a:r>
            <a:r>
              <a:rPr dirty="0" sz="1050" spc="47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to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post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job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requirements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for</a:t>
            </a:r>
          </a:p>
          <a:p>
            <a:pPr marL="0" marR="0">
              <a:lnSpc>
                <a:spcPts val="1173"/>
              </a:lnSpc>
              <a:spcBef>
                <a:spcPts val="8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position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to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be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filled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and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are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commonly</a:t>
            </a:r>
          </a:p>
          <a:p>
            <a:pPr marL="0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known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as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job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board.This</a:t>
            </a:r>
            <a:r>
              <a:rPr dirty="0" sz="1050" spc="67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job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search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website</a:t>
            </a:r>
          </a:p>
          <a:p>
            <a:pPr marL="0" marR="0">
              <a:lnSpc>
                <a:spcPts val="1173"/>
              </a:lnSpc>
              <a:spcBef>
                <a:spcPts val="8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offer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employer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reviews,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career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and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job-search</a:t>
            </a:r>
          </a:p>
          <a:p>
            <a:pPr marL="0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advice,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and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describe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different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job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descriptions</a:t>
            </a:r>
          </a:p>
          <a:p>
            <a:pPr marL="0" marR="0">
              <a:lnSpc>
                <a:spcPts val="1173"/>
              </a:lnSpc>
              <a:spcBef>
                <a:spcPts val="8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or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employers.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Through</a:t>
            </a:r>
            <a:r>
              <a:rPr dirty="0" sz="1050" spc="55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this</a:t>
            </a:r>
            <a:r>
              <a:rPr dirty="0" sz="1050" spc="3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website,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2857" y="2790487"/>
            <a:ext cx="2774322" cy="507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prospective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employee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can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locate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and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fill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out</a:t>
            </a:r>
          </a:p>
          <a:p>
            <a:pPr marL="0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366cc"/>
                </a:solidFill>
                <a:latin typeface="DNGNDR+ArialMT"/>
                <a:cs typeface="DNGNDR+ArialMT"/>
              </a:rPr>
              <a:t>job</a:t>
            </a:r>
            <a:r>
              <a:rPr dirty="0" sz="1050" spc="28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366cc"/>
                </a:solidFill>
                <a:latin typeface="DNGNDR+ArialMT"/>
                <a:cs typeface="DNGNDR+ArialMT"/>
              </a:rPr>
              <a:t>application</a:t>
            </a:r>
            <a:r>
              <a:rPr dirty="0" sz="1050" spc="68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or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submit</a:t>
            </a:r>
            <a:r>
              <a:rPr dirty="0" sz="1050" spc="3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366cc"/>
                </a:solidFill>
                <a:latin typeface="DNGNDR+ArialMT"/>
                <a:cs typeface="DNGNDR+ArialMT"/>
              </a:rPr>
              <a:t>resumes</a:t>
            </a:r>
            <a:r>
              <a:rPr dirty="0" sz="1050" spc="4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over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the</a:t>
            </a:r>
          </a:p>
          <a:p>
            <a:pPr marL="0" marR="0">
              <a:lnSpc>
                <a:spcPts val="1173"/>
              </a:lnSpc>
              <a:spcBef>
                <a:spcPts val="86"/>
              </a:spcBef>
              <a:spcAft>
                <a:spcPts val="0"/>
              </a:spcAft>
            </a:pP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Internet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for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the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advertised</a:t>
            </a:r>
            <a:r>
              <a:rPr dirty="0" sz="1050" spc="28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122"/>
                </a:solidFill>
                <a:latin typeface="DNGNDR+ArialMT"/>
                <a:cs typeface="DNGNDR+ArialMT"/>
              </a:rPr>
              <a:t>position.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0358" y="850005"/>
            <a:ext cx="2210569" cy="8198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1.INTRODUCTION</a:t>
            </a:r>
          </a:p>
          <a:p>
            <a:pPr marL="110813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1.1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Purpose:</a:t>
            </a:r>
          </a:p>
          <a:p>
            <a:pPr marL="584200" marR="0">
              <a:lnSpc>
                <a:spcPts val="991"/>
              </a:lnSpc>
              <a:spcBef>
                <a:spcPts val="211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primary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purpose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help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seekers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find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suitable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employment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98447" y="1010025"/>
            <a:ext cx="1909877" cy="339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1.2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Scope:</a:t>
            </a:r>
          </a:p>
          <a:p>
            <a:pPr marL="482599" marR="0">
              <a:lnSpc>
                <a:spcPts val="991"/>
              </a:lnSpc>
              <a:spcBef>
                <a:spcPts val="211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scope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35253" y="1010025"/>
            <a:ext cx="1855966" cy="3470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1.3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Definition,Acronyms,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and</a:t>
            </a:r>
          </a:p>
          <a:p>
            <a:pPr marL="0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Abbrevations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98447" y="1345920"/>
            <a:ext cx="2075492" cy="14441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quite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broad,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can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cater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variety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industries,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levels,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geographic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locations.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These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feature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openings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ranging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from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entry-level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positions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executive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roles,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cover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different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sectors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healthcare,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technology,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finance,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more.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35253" y="1501177"/>
            <a:ext cx="1879706" cy="808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</a:p>
          <a:p>
            <a:pPr marL="0" marR="0">
              <a:lnSpc>
                <a:spcPts val="991"/>
              </a:lnSpc>
              <a:spcBef>
                <a:spcPts val="25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that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helps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seekers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find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employment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opportunities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by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allowing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them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online.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0358" y="1665960"/>
            <a:ext cx="2263249" cy="19241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opportunities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connecting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them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potential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employers.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These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websites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typically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allow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seekers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online,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upload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their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resumes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cover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letters,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receive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notifications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about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new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openings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that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match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their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skills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interests.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also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provide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valuable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resources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tools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help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seekers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navigate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process,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career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advice,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resume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cover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letter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templates,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35253" y="2301278"/>
            <a:ext cx="1660265" cy="32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ATS: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Stands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"applicant</a:t>
            </a:r>
          </a:p>
          <a:p>
            <a:pPr marL="0" marR="0">
              <a:lnSpc>
                <a:spcPts val="991"/>
              </a:lnSpc>
              <a:spcBef>
                <a:spcPts val="25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tracking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system".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35253" y="2626080"/>
            <a:ext cx="1824521" cy="9640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software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employers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manage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track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applications.</a:t>
            </a:r>
          </a:p>
          <a:p>
            <a:pPr marL="0" marR="0">
              <a:lnSpc>
                <a:spcPts val="1038"/>
              </a:lnSpc>
              <a:spcBef>
                <a:spcPts val="2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CV: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Stands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"curriculum</a:t>
            </a:r>
          </a:p>
          <a:p>
            <a:pPr marL="0" marR="0">
              <a:lnSpc>
                <a:spcPts val="991"/>
              </a:lnSpc>
              <a:spcBef>
                <a:spcPts val="20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vitae".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document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that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summarizes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person's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0358" y="3586201"/>
            <a:ext cx="2214139" cy="9640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interview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tips.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Additionally,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some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offer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features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salary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data,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company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reviews,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career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path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information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help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seekers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make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informed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decisions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about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their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career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goals.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35253" y="3586201"/>
            <a:ext cx="1828560" cy="6573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educational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professional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background,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typically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applications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academic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or</a:t>
            </a:r>
          </a:p>
          <a:p>
            <a:pPr marL="0" marR="0">
              <a:lnSpc>
                <a:spcPts val="1259"/>
              </a:lnSpc>
              <a:spcBef>
                <a:spcPts val="27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fields</a:t>
            </a:r>
            <a:r>
              <a:rPr dirty="0" sz="1050">
                <a:solidFill>
                  <a:srgbClr val="374151"/>
                </a:solidFill>
                <a:latin typeface="IGMMLK+EBGaramond-Regular"/>
                <a:cs typeface="IGMMLK+EBGaramond-Regula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0064" y="916681"/>
            <a:ext cx="1847567" cy="1870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2.GENERAL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DESCRIPTION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6114" y="1252576"/>
            <a:ext cx="1436501" cy="1639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2.1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Product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perspective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67964" y="1270182"/>
            <a:ext cx="1312026" cy="1639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2.2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Product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53965" y="1270181"/>
            <a:ext cx="966650" cy="1639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2.3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00000"/>
                </a:solidFill>
                <a:latin typeface="Calibri"/>
                <a:cs typeface="Calibri"/>
              </a:rPr>
              <a:t>Constraints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0064" y="1412595"/>
            <a:ext cx="2038148" cy="1284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0812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product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perspective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involves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designing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user-friendly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that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provides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comprehensive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up-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to-date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database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listings.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This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includes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functionality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filter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listings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based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on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various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criteria,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resume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767964" y="1585459"/>
            <a:ext cx="2176254" cy="2090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browsing</a:t>
            </a:r>
          </a:p>
          <a:p>
            <a:pPr marL="0" marR="0">
              <a:lnSpc>
                <a:spcPts val="1038"/>
              </a:lnSpc>
              <a:spcBef>
                <a:spcPts val="153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Advanced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filters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criteria</a:t>
            </a:r>
          </a:p>
          <a:p>
            <a:pPr marL="0" marR="0">
              <a:lnSpc>
                <a:spcPts val="1038"/>
              </a:lnSpc>
              <a:spcBef>
                <a:spcPts val="14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Saved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alerts</a:t>
            </a:r>
          </a:p>
          <a:p>
            <a:pPr marL="0" marR="0">
              <a:lnSpc>
                <a:spcPts val="1038"/>
              </a:lnSpc>
              <a:spcBef>
                <a:spcPts val="14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Company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information</a:t>
            </a:r>
          </a:p>
          <a:p>
            <a:pPr marL="0" marR="0">
              <a:lnSpc>
                <a:spcPts val="1038"/>
              </a:lnSpc>
              <a:spcBef>
                <a:spcPts val="14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application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management</a:t>
            </a:r>
          </a:p>
          <a:p>
            <a:pPr marL="0" marR="0">
              <a:lnSpc>
                <a:spcPts val="1038"/>
              </a:lnSpc>
              <a:spcBef>
                <a:spcPts val="14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6.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Resume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profile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management</a:t>
            </a:r>
          </a:p>
          <a:p>
            <a:pPr marL="0" marR="0">
              <a:lnSpc>
                <a:spcPts val="1038"/>
              </a:lnSpc>
              <a:spcBef>
                <a:spcPts val="153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7.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ATS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integration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53965" y="1585459"/>
            <a:ext cx="1754831" cy="489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Data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accuracy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currency</a:t>
            </a:r>
          </a:p>
          <a:p>
            <a:pPr marL="0" marR="0">
              <a:lnSpc>
                <a:spcPts val="1038"/>
              </a:lnSpc>
              <a:spcBef>
                <a:spcPts val="153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Limited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scope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listings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53965" y="2225538"/>
            <a:ext cx="1757135" cy="32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Competition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from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other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5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20064" y="2692756"/>
            <a:ext cx="1437946" cy="1639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management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tools,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53965" y="2705599"/>
            <a:ext cx="1792339" cy="32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User-generated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content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991"/>
              </a:lnSpc>
              <a:spcBef>
                <a:spcPts val="25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potential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misinformation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0064" y="2852776"/>
            <a:ext cx="2037354" cy="1284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communication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features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help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seekers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connect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potential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employers.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should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also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offer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additional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resources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career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advice,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interview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tips,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salary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data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support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6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seekers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throughout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</a:p>
          <a:p>
            <a:pPr marL="0" marR="0">
              <a:lnSpc>
                <a:spcPts val="991"/>
              </a:lnSpc>
              <a:spcBef>
                <a:spcPts val="218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process.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053965" y="3185659"/>
            <a:ext cx="1739974" cy="3287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Dependence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advertising</a:t>
            </a:r>
          </a:p>
          <a:p>
            <a:pPr marL="0" marR="0">
              <a:lnSpc>
                <a:spcPts val="991"/>
              </a:lnSpc>
              <a:spcBef>
                <a:spcPts val="25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revenue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053965" y="3665719"/>
            <a:ext cx="1604982" cy="32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6.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Incomplete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biased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5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descriptions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767964" y="3825740"/>
            <a:ext cx="1416922" cy="169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8.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Communication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tools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767964" y="4145780"/>
            <a:ext cx="1786701" cy="169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9.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Career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advice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resources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1964" y="945256"/>
            <a:ext cx="2026078" cy="3470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3.SPECIFIC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REQUIREMENTS</a:t>
            </a:r>
          </a:p>
          <a:p>
            <a:pPr marL="184689" marR="0">
              <a:lnSpc>
                <a:spcPts val="1173"/>
              </a:lnSpc>
              <a:spcBef>
                <a:spcPts val="36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3.1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Functional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requirements: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1964" y="1414716"/>
            <a:ext cx="6034952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1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Allow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browse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listings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based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various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criteria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location,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title,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salary,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experience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level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1964" y="1894776"/>
            <a:ext cx="3533643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Offer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advanced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filters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options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refine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listings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1964" y="2214817"/>
            <a:ext cx="5441653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Provide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comprehensive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accurate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descriptions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relevant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information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required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qualifications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responsibilities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1964" y="2694877"/>
            <a:ext cx="3487104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Allow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create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manage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their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profiles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resumes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1964" y="3014917"/>
            <a:ext cx="6113753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Offer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features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resume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cover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letter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builders,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suggestions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improving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resumes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cover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letters,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templates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both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1964" y="3494977"/>
            <a:ext cx="3361414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Enable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directly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through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81964" y="3815017"/>
            <a:ext cx="5983353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Provide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features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saved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alerts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notify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new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openings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that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match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their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preferences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2439" y="954781"/>
            <a:ext cx="2130357" cy="1870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3.2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Non-Functional</a:t>
            </a:r>
            <a:r>
              <a:rPr dirty="0" sz="105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00000"/>
                </a:solidFill>
                <a:latin typeface="DNGNDR+ArialMT"/>
                <a:cs typeface="DNGNDR+ArialMT"/>
              </a:rPr>
              <a:t>requirements: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439" y="1264222"/>
            <a:ext cx="6024291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1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Performance: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should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fast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responsive,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minimal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load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times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quick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results.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2439" y="1584262"/>
            <a:ext cx="6069331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Availability: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should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available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accessible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times,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minimal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downtime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maintenance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windows.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2439" y="2064322"/>
            <a:ext cx="6082476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Security: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should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secure,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appropriate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measures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place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protect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data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prevent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unauthorized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access.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2439" y="2544382"/>
            <a:ext cx="5793963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Scalability: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should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able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handle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large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volumes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traffic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listings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grows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expands.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2439" y="3024442"/>
            <a:ext cx="5980121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Usability: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should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user-friendly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easy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navigate,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clear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concise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instructions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help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resources.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2439" y="3504503"/>
            <a:ext cx="5857737" cy="350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Accessibility: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should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accessible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disabilities,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features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alt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text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images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keyboard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navigation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options.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2439" y="3984562"/>
            <a:ext cx="6153231" cy="3504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Compatibility: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should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compatible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wide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range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browsers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devices,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appropriate</a:t>
            </a:r>
          </a:p>
          <a:p>
            <a:pPr marL="0" marR="0">
              <a:lnSpc>
                <a:spcPts val="991"/>
              </a:lnSpc>
              <a:spcBef>
                <a:spcPts val="28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testing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optimization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each.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2902" y="841504"/>
            <a:ext cx="1770030" cy="2614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5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23669"/>
                </a:solidFill>
                <a:latin typeface="OJOKNC+EBGaramond-Bold"/>
                <a:cs typeface="OJOKNC+EBGaramond-Bold"/>
              </a:rPr>
              <a:t>Step-WiseꢀDescription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5774" y="1303330"/>
            <a:ext cx="4586795" cy="5021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Criteria</a:t>
            </a:r>
          </a:p>
          <a:p>
            <a:pPr marL="0" marR="0">
              <a:lnSpc>
                <a:spcPts val="1228"/>
              </a:lnSpc>
              <a:spcBef>
                <a:spcPts val="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lands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website's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home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page.</a:t>
            </a:r>
          </a:p>
          <a:p>
            <a:pPr marL="0" marR="0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enters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their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criteria,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title,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location,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keywords</a:t>
            </a:r>
            <a:r>
              <a:rPr dirty="0" sz="1050">
                <a:solidFill>
                  <a:srgbClr val="374151"/>
                </a:solidFill>
                <a:latin typeface="IGMMLK+EBGaramond-Regular"/>
                <a:cs typeface="IGMMLK+EBGaramond-Regular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8390" y="1926067"/>
            <a:ext cx="5721956" cy="4887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Advanced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Company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Pages</a:t>
            </a:r>
          </a:p>
          <a:p>
            <a:pPr marL="0" marR="0">
              <a:lnSpc>
                <a:spcPts val="1228"/>
              </a:lnSpc>
              <a:spcBef>
                <a:spcPts val="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refine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their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advanced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filters,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salary,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experience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level,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991"/>
              </a:lnSpc>
              <a:spcBef>
                <a:spcPts val="23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type.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5773" y="2509169"/>
            <a:ext cx="5919468" cy="4887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Application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Profile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Management</a:t>
            </a:r>
          </a:p>
          <a:p>
            <a:pPr marL="0" marR="0">
              <a:lnSpc>
                <a:spcPts val="1228"/>
              </a:lnSpc>
              <a:spcBef>
                <a:spcPts val="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click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listing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view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full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description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directly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through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</a:p>
          <a:p>
            <a:pPr marL="0" marR="0">
              <a:lnSpc>
                <a:spcPts val="991"/>
              </a:lnSpc>
              <a:spcBef>
                <a:spcPts val="239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8390" y="3080730"/>
            <a:ext cx="4938790" cy="502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Employer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Portal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Communication</a:t>
            </a:r>
          </a:p>
          <a:p>
            <a:pPr marL="0" marR="0">
              <a:lnSpc>
                <a:spcPts val="1228"/>
              </a:lnSpc>
              <a:spcBef>
                <a:spcPts val="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Employers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log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in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website's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employer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portal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manage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postings,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track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</a:p>
          <a:p>
            <a:pPr marL="0" marR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applications,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communicate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with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potential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candidates</a:t>
            </a:r>
            <a:r>
              <a:rPr dirty="0" sz="1050">
                <a:solidFill>
                  <a:srgbClr val="374151"/>
                </a:solidFill>
                <a:latin typeface="IGMMLK+EBGaramond-Regular"/>
                <a:cs typeface="IGMMLK+EBGaramond-Regular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5772" y="3715009"/>
            <a:ext cx="5666075" cy="502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5.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Career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Resources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Mobile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Optimization</a:t>
            </a:r>
          </a:p>
          <a:p>
            <a:pPr marL="0" marR="0">
              <a:lnSpc>
                <a:spcPts val="1228"/>
              </a:lnSpc>
              <a:spcBef>
                <a:spcPts val="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DNGNDR+ArialMT"/>
                <a:cs typeface="DNGNDR+ArialMT"/>
              </a:rPr>
              <a:t>•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website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offers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career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resources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such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tips,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resume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writing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advice,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salary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data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to</a:t>
            </a:r>
          </a:p>
          <a:p>
            <a:pPr marL="0" marR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help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users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throughout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job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search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74151"/>
                </a:solidFill>
                <a:latin typeface="Calibri"/>
                <a:cs typeface="Calibri"/>
              </a:rPr>
              <a:t>process</a:t>
            </a:r>
            <a:r>
              <a:rPr dirty="0" sz="1050">
                <a:solidFill>
                  <a:srgbClr val="374151"/>
                </a:solidFill>
                <a:latin typeface="IGMMLK+EBGaramond-Regular"/>
                <a:cs typeface="IGMMLK+EBGaramond-Regula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3543" y="787323"/>
            <a:ext cx="2279751" cy="335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88c32"/>
                </a:solidFill>
                <a:latin typeface="OJOKNC+EBGaramond-Bold"/>
                <a:cs typeface="OJOKNC+EBGaramond-Bold"/>
              </a:rPr>
              <a:t>AssessmentꢀParameter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619" y="1364361"/>
            <a:ext cx="1192720" cy="2737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Gatherꢀrequirementsꢀforꢀtheꢀ</a:t>
            </a:r>
          </a:p>
          <a:p>
            <a:pPr marL="765175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project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30206" y="1364361"/>
            <a:ext cx="1081373" cy="2737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addꢀReadme.mdꢀfileꢀwithꢀ</a:t>
            </a:r>
          </a:p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descriptionꢀofꢀtheꢀproject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0483" y="2284991"/>
            <a:ext cx="1018222" cy="2737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Prepareꢀdatabaseꢀdesignꢀ</a:t>
            </a:r>
          </a:p>
          <a:p>
            <a:pPr marL="555625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schemas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58935" y="2284991"/>
            <a:ext cx="1278159" cy="2737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Commitꢀallꢀchangesꢀwithꢀ"firstꢀ</a:t>
            </a:r>
          </a:p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commit"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42061" y="2344867"/>
            <a:ext cx="936612" cy="2614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5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23669"/>
                </a:solidFill>
                <a:latin typeface="OJOKNC+EBGaramond-Bold"/>
                <a:cs typeface="OJOKNC+EBGaramond-Bold"/>
              </a:rPr>
              <a:t>Check-List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87024" y="3230167"/>
            <a:ext cx="993267" cy="2737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Getꢀyourꢀinitialꢀprojectꢀ</a:t>
            </a:r>
          </a:p>
          <a:p>
            <a:pPr marL="274637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Structureꢀready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20286" y="3230167"/>
            <a:ext cx="1209103" cy="2737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createꢀaꢀrepositoryꢀonꢀgithubꢀ</a:t>
            </a:r>
          </a:p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realtedꢀtoꢀproject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40714" y="3894592"/>
            <a:ext cx="967263" cy="1594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Initiateꢀaꢀgitꢀrepository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57274" y="3894592"/>
            <a:ext cx="1187577" cy="1594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000000"/>
                </a:solidFill>
                <a:latin typeface="IGMMLK+EBGaramond-Regular"/>
                <a:cs typeface="IGMMLK+EBGaramond-Regular"/>
              </a:rPr>
              <a:t>Pushꢀyourꢀchangesꢀtoꢀgithub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21091" y="1313743"/>
            <a:ext cx="1675733" cy="2395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FLWGFE+PublicSans-BoldItalic"/>
                <a:cs typeface="FLWGFE+PublicSans-BoldItalic"/>
              </a:rPr>
              <a:t>Submission</a:t>
            </a:r>
            <a:r>
              <a:rPr dirty="0" sz="1350" spc="-34" b="1">
                <a:solidFill>
                  <a:srgbClr val="ffffff"/>
                </a:solidFill>
                <a:latin typeface="FLWGFE+PublicSans-BoldItalic"/>
                <a:cs typeface="FLWGFE+PublicSans-BoldItalic"/>
              </a:rPr>
              <a:t> </a:t>
            </a:r>
            <a:r>
              <a:rPr dirty="0" sz="1350" b="1">
                <a:solidFill>
                  <a:srgbClr val="ffffff"/>
                </a:solidFill>
                <a:latin typeface="FLWGFE+PublicSans-BoldItalic"/>
                <a:cs typeface="FLWGFE+PublicSans-BoldItalic"/>
              </a:rPr>
              <a:t>Github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51991" y="2254086"/>
            <a:ext cx="2025167" cy="3720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bd8738"/>
                </a:solidFill>
                <a:latin typeface="NKDRSK+EBGaramond-SemiBold"/>
                <a:cs typeface="NKDRSK+EBGaramond-SemiBold"/>
              </a:rPr>
              <a:t>https://github.com/samsonjg/jobs</a:t>
            </a:r>
          </a:p>
          <a:p>
            <a:pPr marL="485775" marR="0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bd8738"/>
                </a:solidFill>
                <a:latin typeface="Calibri"/>
                <a:cs typeface="Calibri"/>
              </a:rPr>
              <a:t>ear</a:t>
            </a:r>
            <a:r>
              <a:rPr dirty="0" sz="1050">
                <a:solidFill>
                  <a:srgbClr val="bd8738"/>
                </a:solidFill>
                <a:latin typeface="NKDRSK+EBGaramond-SemiBold"/>
                <a:cs typeface="NKDRSK+EBGaramond-SemiBold"/>
              </a:rPr>
              <a:t>chwebsite.git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2023-04-04T05:21:33-05:00</dcterms:modified>
</cp:coreProperties>
</file>